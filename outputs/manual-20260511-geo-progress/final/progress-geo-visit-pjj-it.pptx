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ea84fa7f14426" /><Relationship Type="http://schemas.openxmlformats.org/officeDocument/2006/relationships/extended-properties" Target="/docProps/app.xml" Id="Re3870a8cedd845cb" /><Relationship Type="http://schemas.openxmlformats.org/officeDocument/2006/relationships/officeDocument" Target="/ppt/presentation.xml" Id="R0460c524698b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4ab5ab01c743b6"/>
  </p:sldMasterIdLst>
  <p:notesMasterIdLst>
    <p:notesMasterId xmlns:r="http://schemas.openxmlformats.org/officeDocument/2006/relationships" r:id="Rb7bee134c06349ae"/>
  </p:notesMasterIdLst>
  <p:sldIdLst>
    <p:sldId xmlns:r="http://schemas.openxmlformats.org/officeDocument/2006/relationships" id="256" r:id="R6b8b4c1d3d324180"/>
    <p:sldId xmlns:r="http://schemas.openxmlformats.org/officeDocument/2006/relationships" id="257" r:id="Rdc0474b8d2484961"/>
    <p:sldId xmlns:r="http://schemas.openxmlformats.org/officeDocument/2006/relationships" id="258" r:id="Rf5a5a25eaf224ab7"/>
    <p:sldId xmlns:r="http://schemas.openxmlformats.org/officeDocument/2006/relationships" id="259" r:id="R6b2ec67ad0b94bb3"/>
    <p:sldId xmlns:r="http://schemas.openxmlformats.org/officeDocument/2006/relationships" id="260" r:id="Ra6d6b12cf9f8473e"/>
    <p:sldId xmlns:r="http://schemas.openxmlformats.org/officeDocument/2006/relationships" id="261" r:id="R7278b43bc7154058"/>
    <p:sldId xmlns:r="http://schemas.openxmlformats.org/officeDocument/2006/relationships" id="262" r:id="Rf2b68bbdfe0e4e41"/>
    <p:sldId xmlns:r="http://schemas.openxmlformats.org/officeDocument/2006/relationships" id="263" r:id="R23842ae0680b47af"/>
    <p:sldId xmlns:r="http://schemas.openxmlformats.org/officeDocument/2006/relationships" id="264" r:id="R9dc83fa21a5747c4"/>
    <p:sldId xmlns:r="http://schemas.openxmlformats.org/officeDocument/2006/relationships" id="265" r:id="R21881f4747c849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ab5ab01c743b6" /><Relationship Type="http://schemas.openxmlformats.org/officeDocument/2006/relationships/theme" Target="/ppt/theme/theme1.xml" Id="Rbbc252998e1d42a5" /><Relationship Type="http://schemas.openxmlformats.org/officeDocument/2006/relationships/notesMaster" Target="/ppt/notesMasters/notesMaster1.xml" Id="Rb7bee134c06349ae" /><Relationship Type="http://schemas.openxmlformats.org/officeDocument/2006/relationships/presProps" Target="/ppt/presProps.xml" Id="R58c366faa3c14abf" /><Relationship Type="http://schemas.openxmlformats.org/officeDocument/2006/relationships/viewProps" Target="/ppt/viewProps.xml" Id="R90a752f00e0647fc" /><Relationship Type="http://schemas.openxmlformats.org/officeDocument/2006/relationships/tableStyles" Target="/ppt/tableStyles.xml" Id="R317a101212344f0c" /><Relationship Type="http://schemas.openxmlformats.org/officeDocument/2006/relationships/slide" Target="/ppt/slides/slide1.xml" Id="R6b8b4c1d3d324180" /><Relationship Type="http://schemas.openxmlformats.org/officeDocument/2006/relationships/slide" Target="/ppt/slides/slide2.xml" Id="Rdc0474b8d2484961" /><Relationship Type="http://schemas.openxmlformats.org/officeDocument/2006/relationships/slide" Target="/ppt/slides/slide3.xml" Id="Rf5a5a25eaf224ab7" /><Relationship Type="http://schemas.openxmlformats.org/officeDocument/2006/relationships/slide" Target="/ppt/slides/slide4.xml" Id="R6b2ec67ad0b94bb3" /><Relationship Type="http://schemas.openxmlformats.org/officeDocument/2006/relationships/slide" Target="/ppt/slides/slide5.xml" Id="Ra6d6b12cf9f8473e" /><Relationship Type="http://schemas.openxmlformats.org/officeDocument/2006/relationships/slide" Target="/ppt/slides/slide6.xml" Id="R7278b43bc7154058" /><Relationship Type="http://schemas.openxmlformats.org/officeDocument/2006/relationships/slide" Target="/ppt/slides/slide7.xml" Id="Rf2b68bbdfe0e4e41" /><Relationship Type="http://schemas.openxmlformats.org/officeDocument/2006/relationships/slide" Target="/ppt/slides/slide8.xml" Id="R23842ae0680b47af" /><Relationship Type="http://schemas.openxmlformats.org/officeDocument/2006/relationships/slide" Target="/ppt/slides/slide9.xml" Id="R9dc83fa21a5747c4" /><Relationship Type="http://schemas.openxmlformats.org/officeDocument/2006/relationships/slide" Target="/ppt/slides/slide10.xml" Id="R21881f4747c8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2f1e29b91a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def16b3ca445f6" /><Relationship Type="http://schemas.openxmlformats.org/officeDocument/2006/relationships/notesMaster" Target="/ppt/notesMasters/notesMaster1.xml" Id="Rbdd7194dc747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c441a3c424c9f" /><Relationship Type="http://schemas.openxmlformats.org/officeDocument/2006/relationships/notesMaster" Target="/ppt/notesMasters/notesMaster1.xml" Id="Rd931dfe7dbf940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a2197d9b145b3" /><Relationship Type="http://schemas.openxmlformats.org/officeDocument/2006/relationships/notesMaster" Target="/ppt/notesMasters/notesMaster1.xml" Id="R4d67b2eae66a47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747297bd64694" /><Relationship Type="http://schemas.openxmlformats.org/officeDocument/2006/relationships/notesMaster" Target="/ppt/notesMasters/notesMaster1.xml" Id="Re166b84abeea4b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eda94ddb3a4ded" /><Relationship Type="http://schemas.openxmlformats.org/officeDocument/2006/relationships/notesMaster" Target="/ppt/notesMasters/notesMaster1.xml" Id="R91a94bb8b609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d611728654cd6" /><Relationship Type="http://schemas.openxmlformats.org/officeDocument/2006/relationships/notesMaster" Target="/ppt/notesMasters/notesMaster1.xml" Id="R09e4c327c276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d1514984404632" /><Relationship Type="http://schemas.openxmlformats.org/officeDocument/2006/relationships/notesMaster" Target="/ppt/notesMasters/notesMaster1.xml" Id="Rf55dd3982f6b4a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1cc9d5149439f" /><Relationship Type="http://schemas.openxmlformats.org/officeDocument/2006/relationships/notesMaster" Target="/ppt/notesMasters/notesMaster1.xml" Id="Rafc10cd2d17149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187fab2b0e4ed8" /><Relationship Type="http://schemas.openxmlformats.org/officeDocument/2006/relationships/notesMaster" Target="/ppt/notesMasters/notesMaster1.xml" Id="R3d4ae9e7b39a4f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ebd02150214d55" /><Relationship Type="http://schemas.openxmlformats.org/officeDocument/2006/relationships/notesMaster" Target="/ppt/notesMasters/notesMaster1.xml" Id="Rd2933f9e6c674c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67146198c4f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3a683c02fe54030" /><Relationship Type="http://schemas.openxmlformats.org/officeDocument/2006/relationships/slideLayout" Target="/ppt/slideLayouts/slideLayout2.xml" Id="R98ef2e4f1b3c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f2e4f1b3c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3758ee67f42ee" /><Relationship Type="http://schemas.openxmlformats.org/officeDocument/2006/relationships/image" Target="/ppt/media/image.png" Id="R7d3005afd7c04811" /><Relationship Type="http://schemas.openxmlformats.org/officeDocument/2006/relationships/image" Target="/ppt/media/image.svg" Id="Rd7e59df58ffb42ee" /><Relationship Type="http://schemas.openxmlformats.org/officeDocument/2006/relationships/image" Target="/ppt/media/image2.png" Id="Rc26163aa5af64c26" /><Relationship Type="http://schemas.openxmlformats.org/officeDocument/2006/relationships/image" Target="/ppt/media/image2.svg" Id="Rbf7a50b1ae704cf2" /><Relationship Type="http://schemas.openxmlformats.org/officeDocument/2006/relationships/image" Target="/ppt/media/image3.png" Id="R6588433f733e4828" /><Relationship Type="http://schemas.openxmlformats.org/officeDocument/2006/relationships/image" Target="/ppt/media/image3.svg" Id="R26b1bdd7078b4f07" /><Relationship Type="http://schemas.openxmlformats.org/officeDocument/2006/relationships/notesSlide" Target="/ppt/notesSlides/notesSlide1.xml" Id="R6ab8e7dd65e34c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92597507f4b0d" /><Relationship Type="http://schemas.openxmlformats.org/officeDocument/2006/relationships/notesSlide" Target="/ppt/notesSlides/notesSlide2.xml" Id="R2481c28c9d7840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934063d2284037" /><Relationship Type="http://schemas.openxmlformats.org/officeDocument/2006/relationships/notesSlide" Target="/ppt/notesSlides/notesSlide3.xml" Id="Rabf70a2f9521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92f102bad4e4b" /><Relationship Type="http://schemas.openxmlformats.org/officeDocument/2006/relationships/image" Target="/ppt/media/image4.png" Id="Rf16938ed80174e54" /><Relationship Type="http://schemas.openxmlformats.org/officeDocument/2006/relationships/image" Target="/ppt/media/image4.svg" Id="R35c8679f71e24606" /><Relationship Type="http://schemas.openxmlformats.org/officeDocument/2006/relationships/image" Target="/ppt/media/image5.png" Id="R2d83cbf572684ea5" /><Relationship Type="http://schemas.openxmlformats.org/officeDocument/2006/relationships/image" Target="/ppt/media/image5.svg" Id="R01a10dec272c4442" /><Relationship Type="http://schemas.openxmlformats.org/officeDocument/2006/relationships/image" Target="/ppt/media/image6.png" Id="R200b5663098e43b6" /><Relationship Type="http://schemas.openxmlformats.org/officeDocument/2006/relationships/image" Target="/ppt/media/image6.svg" Id="R63676045f5c24f36" /><Relationship Type="http://schemas.openxmlformats.org/officeDocument/2006/relationships/image" Target="/ppt/media/image7.png" Id="Re38c2f843e964b1e" /><Relationship Type="http://schemas.openxmlformats.org/officeDocument/2006/relationships/image" Target="/ppt/media/image7.svg" Id="R2f7dc9c85a4f4a02" /><Relationship Type="http://schemas.openxmlformats.org/officeDocument/2006/relationships/notesSlide" Target="/ppt/notesSlides/notesSlide4.xml" Id="Rae23091fc2b745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cc956fdf914820" /><Relationship Type="http://schemas.openxmlformats.org/officeDocument/2006/relationships/image" Target="/ppt/media/image8.png" Id="Re3c02d3df64e4e54" /><Relationship Type="http://schemas.openxmlformats.org/officeDocument/2006/relationships/image" Target="/ppt/media/image8.svg" Id="Rb63853466e4e47ee" /><Relationship Type="http://schemas.openxmlformats.org/officeDocument/2006/relationships/image" Target="/ppt/media/image9.png" Id="R5b5e1d38be2240fb" /><Relationship Type="http://schemas.openxmlformats.org/officeDocument/2006/relationships/image" Target="/ppt/media/image9.svg" Id="R1f26bd429e0f44ba" /><Relationship Type="http://schemas.openxmlformats.org/officeDocument/2006/relationships/image" Target="/ppt/media/image10.png" Id="Rb941d544656846fd" /><Relationship Type="http://schemas.openxmlformats.org/officeDocument/2006/relationships/image" Target="/ppt/media/image10.svg" Id="R865ab92a5f1f42b4" /><Relationship Type="http://schemas.openxmlformats.org/officeDocument/2006/relationships/image" Target="/ppt/media/image11.png" Id="R2179bfd1831e4c8c" /><Relationship Type="http://schemas.openxmlformats.org/officeDocument/2006/relationships/image" Target="/ppt/media/image11.svg" Id="Rfc538f447438418b" /><Relationship Type="http://schemas.openxmlformats.org/officeDocument/2006/relationships/image" Target="/ppt/media/image12.png" Id="Rdd6fcf78365a40fa" /><Relationship Type="http://schemas.openxmlformats.org/officeDocument/2006/relationships/image" Target="/ppt/media/image12.svg" Id="R5a5316193a8d4081" /><Relationship Type="http://schemas.openxmlformats.org/officeDocument/2006/relationships/notesSlide" Target="/ppt/notesSlides/notesSlide5.xml" Id="Rf4755e23a9524c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fab34105541d9" /><Relationship Type="http://schemas.openxmlformats.org/officeDocument/2006/relationships/image" Target="/ppt/media/image13.png" Id="Rb28b9af538514b70" /><Relationship Type="http://schemas.openxmlformats.org/officeDocument/2006/relationships/image" Target="/ppt/media/image13.svg" Id="R655623dc08d849ff" /><Relationship Type="http://schemas.openxmlformats.org/officeDocument/2006/relationships/image" Target="/ppt/media/image14.png" Id="R2d179dc7208649dc" /><Relationship Type="http://schemas.openxmlformats.org/officeDocument/2006/relationships/image" Target="/ppt/media/image14.svg" Id="Ra582ebb2c44d412b" /><Relationship Type="http://schemas.openxmlformats.org/officeDocument/2006/relationships/image" Target="/ppt/media/image15.png" Id="R2ffe3da9018345e3" /><Relationship Type="http://schemas.openxmlformats.org/officeDocument/2006/relationships/image" Target="/ppt/media/image15.svg" Id="R3f8ae4c818f24b78" /><Relationship Type="http://schemas.openxmlformats.org/officeDocument/2006/relationships/image" Target="/ppt/media/image16.png" Id="R116fb7f27b9c4121" /><Relationship Type="http://schemas.openxmlformats.org/officeDocument/2006/relationships/image" Target="/ppt/media/image16.svg" Id="Rab28af1ee7cc4522" /><Relationship Type="http://schemas.openxmlformats.org/officeDocument/2006/relationships/notesSlide" Target="/ppt/notesSlides/notesSlide6.xml" Id="Rdb59c14256ab44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32fcaedaf471e" /><Relationship Type="http://schemas.openxmlformats.org/officeDocument/2006/relationships/image" Target="/ppt/media/image17.png" Id="R9a66cafe499545de" /><Relationship Type="http://schemas.openxmlformats.org/officeDocument/2006/relationships/image" Target="/ppt/media/image17.svg" Id="R97442e02ba83445e" /><Relationship Type="http://schemas.openxmlformats.org/officeDocument/2006/relationships/image" Target="/ppt/media/image18.png" Id="Rd4ea3d469db94040" /><Relationship Type="http://schemas.openxmlformats.org/officeDocument/2006/relationships/image" Target="/ppt/media/image18.svg" Id="Rf83369f5b41d42f9" /><Relationship Type="http://schemas.openxmlformats.org/officeDocument/2006/relationships/notesSlide" Target="/ppt/notesSlides/notesSlide7.xml" Id="R7975bb9ecd07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6043190c94f80" /><Relationship Type="http://schemas.openxmlformats.org/officeDocument/2006/relationships/image" Target="/ppt/media/image19.png" Id="R92a2ed0eb1374777" /><Relationship Type="http://schemas.openxmlformats.org/officeDocument/2006/relationships/image" Target="/ppt/media/image19.svg" Id="Rec4febc81a1d4493" /><Relationship Type="http://schemas.openxmlformats.org/officeDocument/2006/relationships/notesSlide" Target="/ppt/notesSlides/notesSlide8.xml" Id="Rfd743ae9c1e4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d501406014cd5" /><Relationship Type="http://schemas.openxmlformats.org/officeDocument/2006/relationships/image" Target="/ppt/media/image20.png" Id="R1cd1c5f0fc8a44eb" /><Relationship Type="http://schemas.openxmlformats.org/officeDocument/2006/relationships/image" Target="/ppt/media/image20.svg" Id="R829043399c564bf5" /><Relationship Type="http://schemas.openxmlformats.org/officeDocument/2006/relationships/notesSlide" Target="/ppt/notesSlides/notesSlide9.xml" Id="R21fc0763fc0c41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238b0c13347d5" /><Relationship Type="http://schemas.openxmlformats.org/officeDocument/2006/relationships/image" Target="/ppt/media/image21.png" Id="R0fce92ed32694fe0" /><Relationship Type="http://schemas.openxmlformats.org/officeDocument/2006/relationships/image" Target="/ppt/media/image21.svg" Id="R9248ff8a0edf45cb" /><Relationship Type="http://schemas.openxmlformats.org/officeDocument/2006/relationships/image" Target="/ppt/media/image22.png" Id="Rc5c2fb284edc40b7" /><Relationship Type="http://schemas.openxmlformats.org/officeDocument/2006/relationships/image" Target="/ppt/media/image22.svg" Id="Rb8c1c0e7c8684e68" /><Relationship Type="http://schemas.openxmlformats.org/officeDocument/2006/relationships/image" Target="/ppt/media/image23.png" Id="Rc17b4f37479e4862" /><Relationship Type="http://schemas.openxmlformats.org/officeDocument/2006/relationships/image" Target="/ppt/media/image23.svg" Id="R1610ecf3fe9044b5" /><Relationship Type="http://schemas.openxmlformats.org/officeDocument/2006/relationships/image" Target="/ppt/media/image24.png" Id="R6e799bbd31264cd7" /><Relationship Type="http://schemas.openxmlformats.org/officeDocument/2006/relationships/image" Target="/ppt/media/image24.svg" Id="R79f6d348fe9f489c" /><Relationship Type="http://schemas.openxmlformats.org/officeDocument/2006/relationships/notesSlide" Target="/ppt/notesSlides/notesSlide10.xml" Id="R331ce1c7ace34a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387D441-B356-45B8-B68D-9C08F204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5879B2-9CB8-430B-BBDB-9F0952F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4F617C-C7A6-413E-8170-60E3412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EA"/>
                </a:solidFill>
                <a:latin typeface="Aptos"/>
                <a:ea typeface="Aptos"/>
                <a:cs typeface="Aptos"/>
              </a:rPr>
              <a:t>PROGRESS REPORT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E3C5D282-3217-4D15-8121-46B7E0D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sudah masuk fase aplikasi terpadu; gap utama tinggal simulasi rute.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0CABEE7-C9B4-43B5-B8B9-1F552A1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Implementasi Visualisasi Persebaran Data Menggunakan Peta 3D dan Simulasi Rute Efisien Visitasi Dosen ke Rumah Mahasiswa.</a:t>
            </a:r>
          </a:p>
        </p:txBody>
      </p:sp>
      <p:sp>
        <p:nvSpPr>
          <p:cNvPr id="6" name="pill-status-repository-11-mei-2026">
            <a:extLst xmlns:a="http://schemas.openxmlformats.org/drawingml/2006/main">
              <a:ext uri="{FF2B5EF4-FFF2-40B4-BE49-F238E27FC236}">
                <a16:creationId xmlns:a16="http://schemas.microsoft.com/office/drawing/2014/main" id="{F675FAE4-5C03-4C76-BC3B-B6787E07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repository: 11 Mei 2026</a:t>
            </a:r>
          </a:p>
        </p:txBody>
      </p:sp>
      <p:sp>
        <p:nvSpPr>
          <p:cNvPr id="7" name="pill-pjj-it-pens-angkatan-2023">
            <a:extLst xmlns:a="http://schemas.openxmlformats.org/drawingml/2006/main">
              <a:ext uri="{FF2B5EF4-FFF2-40B4-BE49-F238E27FC236}">
                <a16:creationId xmlns:a16="http://schemas.microsoft.com/office/drawing/2014/main" id="{24D16E2F-5E6B-421C-A7E0-92E9E02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PJJ IT PENS Angkatan 2023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005afd7c04811">
            <a:extLst>
              <a:ext uri="{96DAC541-7B7A-43D3-8B79-37D633B846F1}">
                <asvg:svgBlip xmlns:asvg="http://schemas.microsoft.com/office/drawing/2016/SVG/main" r:embed="Rd7e59df58ffb42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82125" y="876300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163aa5af64c26">
            <a:extLst>
              <a:ext uri="{96DAC541-7B7A-43D3-8B79-37D633B846F1}">
                <asvg:svgBlip xmlns:asvg="http://schemas.microsoft.com/office/drawing/2016/SVG/main" r:embed="Rbf7a50b1ae704c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1657350"/>
            <a:ext cx="552450" cy="5524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8433f733e4828">
            <a:extLst>
              <a:ext uri="{96DAC541-7B7A-43D3-8B79-37D633B846F1}">
                <asvg:svgBlip xmlns:asvg="http://schemas.microsoft.com/office/drawing/2016/SVG/main" r:embed="R26b1bdd7078b4f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96375" y="24765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cover-map-line-a">
            <a:extLst xmlns:a="http://schemas.openxmlformats.org/drawingml/2006/main">
              <a:ext uri="{FF2B5EF4-FFF2-40B4-BE49-F238E27FC236}">
                <a16:creationId xmlns:a16="http://schemas.microsoft.com/office/drawing/2014/main" id="{CC0C2B17-D21D-4037-8095-90DD5F4E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42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cover-map-line-b">
            <a:extLst xmlns:a="http://schemas.openxmlformats.org/drawingml/2006/main">
              <a:ext uri="{FF2B5EF4-FFF2-40B4-BE49-F238E27FC236}">
                <a16:creationId xmlns:a16="http://schemas.microsoft.com/office/drawing/2014/main" id="{A52A7DAD-AFAA-4243-8D83-71037A7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386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over-map-line-c">
            <a:extLst xmlns:a="http://schemas.openxmlformats.org/drawingml/2006/main">
              <a:ext uri="{FF2B5EF4-FFF2-40B4-BE49-F238E27FC236}">
                <a16:creationId xmlns:a16="http://schemas.microsoft.com/office/drawing/2014/main" id="{5385D227-E1AD-44F2-AAC6-1AEBE59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F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metric-box-Done">
            <a:extLst xmlns:a="http://schemas.openxmlformats.org/drawingml/2006/main">
              <a:ext uri="{FF2B5EF4-FFF2-40B4-BE49-F238E27FC236}">
                <a16:creationId xmlns:a16="http://schemas.microsoft.com/office/drawing/2014/main" id="{CAAD63D9-CFF2-4A59-B0F5-5138C29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66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15" name="metric-accent-Done">
            <a:extLst xmlns:a="http://schemas.openxmlformats.org/drawingml/2006/main">
              <a:ext uri="{FF2B5EF4-FFF2-40B4-BE49-F238E27FC236}">
                <a16:creationId xmlns:a16="http://schemas.microsoft.com/office/drawing/2014/main" id="{F3E06B30-D3DE-423E-8F97-768DD215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-Done">
            <a:extLst xmlns:a="http://schemas.openxmlformats.org/drawingml/2006/main">
              <a:ext uri="{FF2B5EF4-FFF2-40B4-BE49-F238E27FC236}">
                <a16:creationId xmlns:a16="http://schemas.microsoft.com/office/drawing/2014/main" id="{99330AE8-986D-4B73-B49A-8DDD16D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343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81</a:t>
            </a:r>
          </a:p>
        </p:txBody>
      </p:sp>
      <p:sp>
        <p:nvSpPr>
          <p:cNvPr id="17" name="metric-label-Done">
            <a:extLst xmlns:a="http://schemas.openxmlformats.org/drawingml/2006/main">
              <a:ext uri="{FF2B5EF4-FFF2-40B4-BE49-F238E27FC236}">
                <a16:creationId xmlns:a16="http://schemas.microsoft.com/office/drawing/2014/main" id="{26BBA779-D413-4205-A081-80ACF229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343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8" name="metric-note-Done">
            <a:extLst xmlns:a="http://schemas.openxmlformats.org/drawingml/2006/main">
              <a:ext uri="{FF2B5EF4-FFF2-40B4-BE49-F238E27FC236}">
                <a16:creationId xmlns:a16="http://schemas.microsoft.com/office/drawing/2014/main" id="{6EDF4341-3861-4A45-ABA9-5972EE71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Item selesai di TASKS.md</a:t>
            </a:r>
          </a:p>
        </p:txBody>
      </p:sp>
      <p:sp>
        <p:nvSpPr>
          <p:cNvPr id="19" name="metric-box-Todo">
            <a:extLst xmlns:a="http://schemas.openxmlformats.org/drawingml/2006/main">
              <a:ext uri="{FF2B5EF4-FFF2-40B4-BE49-F238E27FC236}">
                <a16:creationId xmlns:a16="http://schemas.microsoft.com/office/drawing/2014/main" id="{5A11A8AC-CF76-4BB3-AD20-DC4B409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1666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20" name="metric-accent-Todo">
            <a:extLst xmlns:a="http://schemas.openxmlformats.org/drawingml/2006/main">
              <a:ext uri="{FF2B5EF4-FFF2-40B4-BE49-F238E27FC236}">
                <a16:creationId xmlns:a16="http://schemas.microsoft.com/office/drawing/2014/main" id="{B825A223-23C2-4AAA-BA3D-6392935E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etric-value-Todo">
            <a:extLst xmlns:a="http://schemas.openxmlformats.org/drawingml/2006/main">
              <a:ext uri="{FF2B5EF4-FFF2-40B4-BE49-F238E27FC236}">
                <a16:creationId xmlns:a16="http://schemas.microsoft.com/office/drawing/2014/main" id="{F0C11C39-5FFF-41E2-97A7-AF65CF5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52900"/>
            <a:ext cx="1343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22" name="metric-label-Todo">
            <a:extLst xmlns:a="http://schemas.openxmlformats.org/drawingml/2006/main">
              <a:ext uri="{FF2B5EF4-FFF2-40B4-BE49-F238E27FC236}">
                <a16:creationId xmlns:a16="http://schemas.microsoft.com/office/drawing/2014/main" id="{1D8A5A7E-988E-4225-BA6B-F1EDA6C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52950"/>
            <a:ext cx="1343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Todo</a:t>
            </a:r>
          </a:p>
        </p:txBody>
      </p:sp>
      <p:sp>
        <p:nvSpPr>
          <p:cNvPr id="23" name="metric-note-Todo">
            <a:extLst xmlns:a="http://schemas.openxmlformats.org/drawingml/2006/main">
              <a:ext uri="{FF2B5EF4-FFF2-40B4-BE49-F238E27FC236}">
                <a16:creationId xmlns:a16="http://schemas.microsoft.com/office/drawing/2014/main" id="{84C5BFBE-46A2-4B8D-A693-99B8E05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38700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Sisa item terlog</a:t>
            </a:r>
          </a:p>
        </p:txBody>
      </p:sp>
      <p:sp>
        <p:nvSpPr>
          <p:cNvPr id="24" name="metric-box-Blocked">
            <a:extLst xmlns:a="http://schemas.openxmlformats.org/drawingml/2006/main">
              <a:ext uri="{FF2B5EF4-FFF2-40B4-BE49-F238E27FC236}">
                <a16:creationId xmlns:a16="http://schemas.microsoft.com/office/drawing/2014/main" id="{B7217913-9515-4063-9EDD-80E28A4B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1666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25" name="metric-accent-Blocked">
            <a:extLst xmlns:a="http://schemas.openxmlformats.org/drawingml/2006/main">
              <a:ext uri="{FF2B5EF4-FFF2-40B4-BE49-F238E27FC236}">
                <a16:creationId xmlns:a16="http://schemas.microsoft.com/office/drawing/2014/main" id="{8B32A94E-1573-419D-B84D-299AF6B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metric-value-Blocked">
            <a:extLst xmlns:a="http://schemas.openxmlformats.org/drawingml/2006/main">
              <a:ext uri="{FF2B5EF4-FFF2-40B4-BE49-F238E27FC236}">
                <a16:creationId xmlns:a16="http://schemas.microsoft.com/office/drawing/2014/main" id="{EE385B44-EF59-43BE-96A3-F1F11050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343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27" name="metric-label-Blocked">
            <a:extLst xmlns:a="http://schemas.openxmlformats.org/drawingml/2006/main">
              <a:ext uri="{FF2B5EF4-FFF2-40B4-BE49-F238E27FC236}">
                <a16:creationId xmlns:a16="http://schemas.microsoft.com/office/drawing/2014/main" id="{2F823B34-FCAF-4AE5-8F2B-ACE7D7C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1343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8" name="metric-note-Blocked">
            <a:extLst xmlns:a="http://schemas.openxmlformats.org/drawingml/2006/main">
              <a:ext uri="{FF2B5EF4-FFF2-40B4-BE49-F238E27FC236}">
                <a16:creationId xmlns:a16="http://schemas.microsoft.com/office/drawing/2014/main" id="{566D9C66-8F73-4F81-8767-56C1AEF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38700"/>
            <a:ext cx="1343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Tidak ada task blocked</a:t>
            </a:r>
          </a:p>
        </p:txBody>
      </p:sp>
      <p:sp>
        <p:nvSpPr>
          <p:cNvPr id="29" name="cover-pct">
            <a:extLst xmlns:a="http://schemas.openxmlformats.org/drawingml/2006/main">
              <a:ext uri="{FF2B5EF4-FFF2-40B4-BE49-F238E27FC236}">
                <a16:creationId xmlns:a16="http://schemas.microsoft.com/office/drawing/2014/main" id="{6F33917E-E5D8-48F9-BF41-3B618BF9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05275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88% task-log completion</a:t>
            </a:r>
          </a:p>
        </p:txBody>
      </p:sp>
      <p:sp>
        <p:nvSpPr>
          <p:cNvPr id="30" name="cover-pct-note">
            <a:extLst xmlns:a="http://schemas.openxmlformats.org/drawingml/2006/main">
              <a:ext uri="{FF2B5EF4-FFF2-40B4-BE49-F238E27FC236}">
                <a16:creationId xmlns:a16="http://schemas.microsoft.com/office/drawing/2014/main" id="{64A64DD4-53B3-45E0-B5D4-B95017B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7B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7B7"/>
                </a:solidFill>
                <a:latin typeface="Aptos"/>
                <a:ea typeface="Aptos"/>
                <a:cs typeface="Aptos"/>
              </a:rPr>
              <a:t>Angka ini berbasis jumlah task di TASKS.md, bukan estimasi bobot pekerjaan produksi.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381DAD-A7AF-4140-A550-012ACA1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8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AB1E9E9-F94A-4B97-9D3C-C0C9169F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7AA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727A7D-48ED-4F19-ACA3-8200EE3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7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7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33161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2D93AAF-CCCD-4838-B724-1E9D372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B073D75-E94C-4614-B9FD-BEB1232D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46A09A-5926-4E27-9528-3251A4B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E5C34E6-CB90-4223-8DA8-CC2C4E2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Sebagian besar fondasi produk sudah selesai, namun belum release-complete.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4220C5EB-FC13-4B02-B89E-07765954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TASKS.md mencatat 81 item selesai dari 92 total item. Item tersisa terkonsentrasi pada simulasi rute, testing, dan hardening geocoding.</a:t>
            </a:r>
          </a:p>
        </p:txBody>
      </p:sp>
      <p:sp>
        <p:nvSpPr>
          <p:cNvPr id="6" name="metric-box-Task log">
            <a:extLst xmlns:a="http://schemas.openxmlformats.org/drawingml/2006/main">
              <a:ext uri="{FF2B5EF4-FFF2-40B4-BE49-F238E27FC236}">
                <a16:creationId xmlns:a16="http://schemas.microsoft.com/office/drawing/2014/main" id="{E85B306B-C873-4EA1-87B3-08C9EFC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924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7" name="metric-accent-Task log">
            <a:extLst xmlns:a="http://schemas.openxmlformats.org/drawingml/2006/main">
              <a:ext uri="{FF2B5EF4-FFF2-40B4-BE49-F238E27FC236}">
                <a16:creationId xmlns:a16="http://schemas.microsoft.com/office/drawing/2014/main" id="{8C56FCBF-D490-40B5-9520-AD747259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762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metric-value-Task log">
            <a:extLst xmlns:a="http://schemas.openxmlformats.org/drawingml/2006/main">
              <a:ext uri="{FF2B5EF4-FFF2-40B4-BE49-F238E27FC236}">
                <a16:creationId xmlns:a16="http://schemas.microsoft.com/office/drawing/2014/main" id="{35DD0AAE-C48E-4719-9C02-E960485F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88%</a:t>
            </a:r>
          </a:p>
        </p:txBody>
      </p:sp>
      <p:sp>
        <p:nvSpPr>
          <p:cNvPr id="9" name="metric-label-Task log">
            <a:extLst xmlns:a="http://schemas.openxmlformats.org/drawingml/2006/main">
              <a:ext uri="{FF2B5EF4-FFF2-40B4-BE49-F238E27FC236}">
                <a16:creationId xmlns:a16="http://schemas.microsoft.com/office/drawing/2014/main" id="{01EB3826-9F01-422A-B13F-BCA24F25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Task log</a:t>
            </a:r>
          </a:p>
        </p:txBody>
      </p:sp>
      <p:sp>
        <p:nvSpPr>
          <p:cNvPr id="10" name="metric-note-Task log">
            <a:extLst xmlns:a="http://schemas.openxmlformats.org/drawingml/2006/main">
              <a:ext uri="{FF2B5EF4-FFF2-40B4-BE49-F238E27FC236}">
                <a16:creationId xmlns:a16="http://schemas.microsoft.com/office/drawing/2014/main" id="{C82BB031-2D70-4F5E-9363-2267931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81 done / 92 total</a:t>
            </a:r>
          </a:p>
        </p:txBody>
      </p:sp>
      <p:sp>
        <p:nvSpPr>
          <p:cNvPr id="11" name="metric-box-Doing">
            <a:extLst xmlns:a="http://schemas.openxmlformats.org/drawingml/2006/main">
              <a:ext uri="{FF2B5EF4-FFF2-40B4-BE49-F238E27FC236}">
                <a16:creationId xmlns:a16="http://schemas.microsoft.com/office/drawing/2014/main" id="{442A7F8B-DE24-4DCC-AC93-B620BF94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924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12" name="metric-accent-Doing">
            <a:extLst xmlns:a="http://schemas.openxmlformats.org/drawingml/2006/main">
              <a:ext uri="{FF2B5EF4-FFF2-40B4-BE49-F238E27FC236}">
                <a16:creationId xmlns:a16="http://schemas.microsoft.com/office/drawing/2014/main" id="{39A88250-93B5-4BD6-97B0-2B48538A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etric-value-Doing">
            <a:extLst xmlns:a="http://schemas.openxmlformats.org/drawingml/2006/main">
              <a:ext uri="{FF2B5EF4-FFF2-40B4-BE49-F238E27FC236}">
                <a16:creationId xmlns:a16="http://schemas.microsoft.com/office/drawing/2014/main" id="{862C0873-0273-40F9-BBC4-31B7EC68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4" name="metric-label-Doing">
            <a:extLst xmlns:a="http://schemas.openxmlformats.org/drawingml/2006/main">
              <a:ext uri="{FF2B5EF4-FFF2-40B4-BE49-F238E27FC236}">
                <a16:creationId xmlns:a16="http://schemas.microsoft.com/office/drawing/2014/main" id="{29E2AAA9-8BD1-4B35-94A6-6EA0CE5B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Doing</a:t>
            </a:r>
          </a:p>
        </p:txBody>
      </p:sp>
      <p:sp>
        <p:nvSpPr>
          <p:cNvPr id="15" name="metric-note-Doing">
            <a:extLst xmlns:a="http://schemas.openxmlformats.org/drawingml/2006/main">
              <a:ext uri="{FF2B5EF4-FFF2-40B4-BE49-F238E27FC236}">
                <a16:creationId xmlns:a16="http://schemas.microsoft.com/office/drawing/2014/main" id="{070C55FB-2F75-4B76-8124-E24C443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Tidak ada task aktif</a:t>
            </a:r>
          </a:p>
        </p:txBody>
      </p:sp>
      <p:sp>
        <p:nvSpPr>
          <p:cNvPr id="16" name="metric-box-Blocked">
            <a:extLst xmlns:a="http://schemas.openxmlformats.org/drawingml/2006/main">
              <a:ext uri="{FF2B5EF4-FFF2-40B4-BE49-F238E27FC236}">
                <a16:creationId xmlns:a16="http://schemas.microsoft.com/office/drawing/2014/main" id="{6D282B37-147C-4B4B-B1BB-B16C23F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1924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</p:sp>
      <p:sp>
        <p:nvSpPr>
          <p:cNvPr id="17" name="metric-accent-Blocked">
            <a:extLst xmlns:a="http://schemas.openxmlformats.org/drawingml/2006/main">
              <a:ext uri="{FF2B5EF4-FFF2-40B4-BE49-F238E27FC236}">
                <a16:creationId xmlns:a16="http://schemas.microsoft.com/office/drawing/2014/main" id="{5C906301-D1DE-4857-8EAA-B0A774C1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etric-value-Blocked">
            <a:extLst xmlns:a="http://schemas.openxmlformats.org/drawingml/2006/main">
              <a:ext uri="{FF2B5EF4-FFF2-40B4-BE49-F238E27FC236}">
                <a16:creationId xmlns:a16="http://schemas.microsoft.com/office/drawing/2014/main" id="{63B4F1E2-7DE2-4549-B0B5-8167A2D3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9" name="metric-label-Blocked">
            <a:extLst xmlns:a="http://schemas.openxmlformats.org/drawingml/2006/main">
              <a:ext uri="{FF2B5EF4-FFF2-40B4-BE49-F238E27FC236}">
                <a16:creationId xmlns:a16="http://schemas.microsoft.com/office/drawing/2014/main" id="{EE39CCCE-1DF3-455E-A2B6-4EAD0494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FEA6B-D1E2-48AD-AE45-788A3015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Backend 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B1D45-15AD-4571-B60D-EFB6E0C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622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22" name="bar-bg-Backend REST API">
            <a:extLst xmlns:a="http://schemas.openxmlformats.org/drawingml/2006/main">
              <a:ext uri="{FF2B5EF4-FFF2-40B4-BE49-F238E27FC236}">
                <a16:creationId xmlns:a16="http://schemas.microsoft.com/office/drawing/2014/main" id="{54D2AB11-F609-4BF6-9032-589A7168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bar-fill-Backend REST API">
            <a:extLst xmlns:a="http://schemas.openxmlformats.org/drawingml/2006/main">
              <a:ext uri="{FF2B5EF4-FFF2-40B4-BE49-F238E27FC236}">
                <a16:creationId xmlns:a16="http://schemas.microsoft.com/office/drawing/2014/main" id="{B8529E8D-F65B-4546-8B96-CC0A90A0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6600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F6986-DC98-403D-9FE6-02BD3F9D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Auth, user, mahasiswa, wilayah, dashboard, map, dan log route tersedia.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15154-39E0-43D1-8F0B-2FCBA5B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97668-1E94-4550-AC5D-B44F571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85%</a:t>
            </a:r>
          </a:p>
        </p:txBody>
      </p:sp>
      <p:sp>
        <p:nvSpPr>
          <p:cNvPr id="27" name="bar-bg-Data pipeline">
            <a:extLst xmlns:a="http://schemas.openxmlformats.org/drawingml/2006/main">
              <a:ext uri="{FF2B5EF4-FFF2-40B4-BE49-F238E27FC236}">
                <a16:creationId xmlns:a16="http://schemas.microsoft.com/office/drawing/2014/main" id="{EAA3D779-A21C-4936-8288-755DD974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bar-fill-Data pipeline">
            <a:extLst xmlns:a="http://schemas.openxmlformats.org/drawingml/2006/main">
              <a:ext uri="{FF2B5EF4-FFF2-40B4-BE49-F238E27FC236}">
                <a16:creationId xmlns:a16="http://schemas.microsoft.com/office/drawing/2014/main" id="{1A70FCCC-2F4B-497E-8304-460ADAD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2341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FBE33-CB28-442C-9FF4-2F624EB6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Normalisasi alamat, classifier, geocoding, validasi, dan import review sudah berjalan.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87439-2D8F-4A68-9F4C-0A64DBF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Admin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EEE238-4F22-4712-85BC-BA315C7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32" name="bar-bg-Admin operations">
            <a:extLst xmlns:a="http://schemas.openxmlformats.org/drawingml/2006/main">
              <a:ext uri="{FF2B5EF4-FFF2-40B4-BE49-F238E27FC236}">
                <a16:creationId xmlns:a16="http://schemas.microsoft.com/office/drawing/2014/main" id="{79BE0BD1-B156-4D66-9112-8EF827F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bar-fill-Admin operations">
            <a:extLst xmlns:a="http://schemas.openxmlformats.org/drawingml/2006/main">
              <a:ext uri="{FF2B5EF4-FFF2-40B4-BE49-F238E27FC236}">
                <a16:creationId xmlns:a16="http://schemas.microsoft.com/office/drawing/2014/main" id="{C308D345-E496-4B59-896E-EA81742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64541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A62E5-F975-4ECA-9B10-7ED2AE9F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Mahasiswa, user, wilayah, dashboard, log, dan import sudah terhubung API.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C8412-08A0-43AB-A408-8D61091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Dashboard 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CC7834-C6D3-4055-B25E-EED34357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37" name="bar-bg-Dashboard analytics">
            <a:extLst xmlns:a="http://schemas.openxmlformats.org/drawingml/2006/main">
              <a:ext uri="{FF2B5EF4-FFF2-40B4-BE49-F238E27FC236}">
                <a16:creationId xmlns:a16="http://schemas.microsoft.com/office/drawing/2014/main" id="{FC094125-DA7F-4750-82FD-3DE26449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bar-fill-Dashboard analytics">
            <a:extLst xmlns:a="http://schemas.openxmlformats.org/drawingml/2006/main">
              <a:ext uri="{FF2B5EF4-FFF2-40B4-BE49-F238E27FC236}">
                <a16:creationId xmlns:a16="http://schemas.microsoft.com/office/drawing/2014/main" id="{EB19A054-DBA2-4FCC-9F12-BA3F54ED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6600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BA0445-6907-44AE-8AD6-5190575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Admin dan non-admin chart dashboard sudah memakai endpoint dashboard.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CBFA3-0496-4B5A-B743-83FC83DB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054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3D map visualization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DA20BC-5BA7-4522-85B9-E1089A9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054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42" name="bar-bg-3D map visualization">
            <a:extLst xmlns:a="http://schemas.openxmlformats.org/drawingml/2006/main">
              <a:ext uri="{FF2B5EF4-FFF2-40B4-BE49-F238E27FC236}">
                <a16:creationId xmlns:a16="http://schemas.microsoft.com/office/drawing/2014/main" id="{2E37D058-932F-4DE9-B17B-092476D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bar-fill-3D map visualization">
            <a:extLst xmlns:a="http://schemas.openxmlformats.org/drawingml/2006/main">
              <a:ext uri="{FF2B5EF4-FFF2-40B4-BE49-F238E27FC236}">
                <a16:creationId xmlns:a16="http://schemas.microsoft.com/office/drawing/2014/main" id="{B28FA16A-4419-4AE2-8EF8-FE6C6432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60140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5DA27D-4A70-4025-80B9-476DB90C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054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Cesium map, marker, drilldown, search, dan optimasi rendering tersedia.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C651D0-2BFC-4BB6-A944-3453EE0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91200"/>
            <a:ext cx="513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Route simulation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DD122A-1E87-4176-B388-FC81483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912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47" name="bar-bg-Route simulation">
            <a:extLst xmlns:a="http://schemas.openxmlformats.org/drawingml/2006/main">
              <a:ext uri="{FF2B5EF4-FFF2-40B4-BE49-F238E27FC236}">
                <a16:creationId xmlns:a16="http://schemas.microsoft.com/office/drawing/2014/main" id="{E1262B2D-B99F-407D-A0A4-A14A273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bar-fill-Route simulation">
            <a:extLst xmlns:a="http://schemas.openxmlformats.org/drawingml/2006/main">
              <a:ext uri="{FF2B5EF4-FFF2-40B4-BE49-F238E27FC236}">
                <a16:creationId xmlns:a16="http://schemas.microsoft.com/office/drawing/2014/main" id="{D2425D2B-C3F0-4CD7-BBE5-B6F70692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0075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5957A6-59F5-4A0A-8130-7E5A7B3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91250"/>
            <a:ext cx="733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Fondasi konsep ada; rule set dan kontrak API final belum tersedia.</a:t>
            </a:r>
          </a:p>
        </p:txBody>
      </p:sp>
      <p:sp>
        <p:nvSpPr>
          <p:cNvPr id="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9F878E-1E2B-4B2B-A6A1-2EE9CF09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963E931-4A8C-4C6E-A62F-221806F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37E4D9A-FA7B-4CD9-98C5-FD9014E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14348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164AEC5-1657-4FC3-A838-E67C658D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7484A4-01CB-43EE-B277-6D3F310D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172F2A-714C-46F8-9E50-CBFFFD1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SCOPE MATCH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E2ED0AB-6681-4ECE-BF8C-A14E8245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Scope proposal sudah dipetakan ke modul nyata di repository.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5DAD7353-B665-43C9-A4E7-CA40A43B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Referensi proposal menuntut pengelolaan data, klasifikasi/geocoding alamat, dashboard, peta 3D, autentikasi, dan dasar rute visitasi.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9F61F-C885-47D8-A69A-DDDA195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 dari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D5891-7D0B-4FD1-B26D-59C48F4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574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Bukti implementasi repo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1DB9F-3A3E-4C1B-A4F6-A97ECF5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A6A72-5909-4236-B825-66CC9B94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7335D-6B7E-4DFB-A6B0-0B9762C6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REST API dan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30817-8C4E-4207-976E-55D4E0F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46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Lumen 10, PostgreSQL, repository layer, protected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F8E81-03B6-428B-955A-D0E2247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14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EFCE2-9B48-48ED-B43A-B26210CB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14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Endpoint utama tersedia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43323-D56C-4D02-ADB1-CAE71EE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Pengelolaan mahasiswa/user/wilayah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5A336-42C3-411A-81B8-D7FC1FE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052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CRUD, import Excel dua tahap, reset password, activity logs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643CB-F14D-4283-818E-594EAEB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05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FF94D-E049-48D5-A578-C855B7C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Admin UI sudah wired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F5B59-EF77-4E0F-8E4B-3BC35C15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Klasifikasi alamat dan geocoding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5118D-764C-4E2D-9D3B-29E4201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957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Classifier, alias/fuzzy, confidence, Nominatim opt-in, valid flag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11E95-69B2-4AE1-9FB0-E05ABA6A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Mostly 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4A700-54B4-44AB-9B26-69523754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Masih perlu cache/test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BDACC-5A05-46D6-8539-3E4C86D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Dashboard dan peta 3D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06133-D517-4816-8C6E-1E5484E0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8630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Highcharts dashboard, Cesium map, drilldown, search, marker cache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6E85C-24C5-4968-AE4C-D5D89C1B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86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22893-5D46-4B9D-9E81-E767A0BB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86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Performa sudah dioptimasi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36612-E6E3-49B0-908C-B5286D3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Simulasi rute visitasi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C544F-3C71-48F3-9D87-09EFFC55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76850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Konsep OSRM/TSP ada di proposal dan backlog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6CB2B-828C-4110-8118-E6A83A8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76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73500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735000"/>
                </a:solidFill>
                <a:latin typeface="Aptos"/>
                <a:ea typeface="Aptos"/>
                <a:cs typeface="Aptos"/>
              </a:rPr>
              <a:t>Next block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7BD2C-797C-4019-B14F-F405E891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Rule set belum final</a:t>
            </a:r>
          </a:p>
        </p:txBody>
      </p:sp>
      <p:sp>
        <p:nvSpPr>
          <p:cNvPr id="30" name="pill-kesimpulan-visualisasi-dan-operasi-data-siap-didemokan-routing-menjadi-milestone-berikutnya-">
            <a:extLst xmlns:a="http://schemas.openxmlformats.org/drawingml/2006/main">
              <a:ext uri="{FF2B5EF4-FFF2-40B4-BE49-F238E27FC236}">
                <a16:creationId xmlns:a16="http://schemas.microsoft.com/office/drawing/2014/main" id="{EEF1521B-380C-4669-8AC1-88ADD85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Kesimpulan: visualisasi dan operasi data siap didemokan; routing menjadi milestone berikutnya.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ED733C-64B1-46B4-AE60-85986C9F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F571A08-1042-474F-942D-C616A04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D0E797-0851-422A-B188-F45B006C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6012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C43023F-353A-43B4-BD1D-1FD7E2BC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A9F328-12E9-4D58-8437-2EF9D23D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80CF41-8E29-4C5C-B264-0036BC2F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PLATFORM BUILD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B8B7098-DC59-44F1-84C0-A2E2E8F1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Backend/API foundation sudah menutup mayoritas kebutuhan operasional.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AF9153F4-FA01-41C5-B676-F021A5B1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Arsitektur berjalan dengan pemisahan frontend Nuxt, REST API Lumen, repository layer, dan PostgreSQL.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524CF-085D-409E-AD4D-57C0C741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000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938ed80174e54">
            <a:extLst>
              <a:ext uri="{96DAC541-7B7A-43D3-8B79-37D633B846F1}">
                <asvg:svgBlip xmlns:asvg="http://schemas.microsoft.com/office/drawing/2016/SVG/main" r:embed="R35c8679f71e246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2800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C6784-0AA5-4A6A-9CE7-12E0341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B58DE-B274-4797-932B-B8F7397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Nuxt 4, Tailwind, DaisyUI, Pinia, Axios, Highcharts, CesiumJS</a:t>
            </a:r>
          </a:p>
        </p:txBody>
      </p:sp>
      <p:sp>
        <p:nvSpPr>
          <p:cNvPr id="10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41EB5582-0313-485E-9C6B-FB1DAC42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718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665F9B8E-B6D4-4C11-BE6D-834DBFF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242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6F844-2FEF-49E3-8D2D-6F0B3FE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71750"/>
            <a:ext cx="2000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3cbf572684ea5">
            <a:extLst>
              <a:ext uri="{96DAC541-7B7A-43D3-8B79-37D633B846F1}">
                <asvg:svgBlip xmlns:asvg="http://schemas.microsoft.com/office/drawing/2016/SVG/main" r:embed="R01a10dec272c44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0875" y="2800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4C269-63D8-4F7D-A809-7D9D651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95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API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722F5-7676-4AAC-818C-910EF55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76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Auth, users, mahasiswa, wilayah, dashboard, map, activity logs</a:t>
            </a:r>
          </a:p>
        </p:txBody>
      </p:sp>
      <p:sp>
        <p:nvSpPr>
          <p:cNvPr id="16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2511B8F0-B240-4F16-B523-FABB7F0A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718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AE11A885-8740-46BB-B443-FA31BFF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EFC8F-6A88-4B21-A560-9CDF06F8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2000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b5663098e43b6">
            <a:extLst>
              <a:ext uri="{96DAC541-7B7A-43D3-8B79-37D633B846F1}">
                <asvg:svgBlip xmlns:asvg="http://schemas.microsoft.com/office/drawing/2016/SVG/main" r:embed="R63676045f5c24f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2800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5AE0A-DAE3-4575-9EAC-873E8105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Domain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3A333-ECF4-4ABC-BC3C-A7D3872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76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Repository-first controllers, classifier, import, dashboard query layer</a:t>
            </a:r>
          </a:p>
        </p:txBody>
      </p:sp>
      <p:sp>
        <p:nvSpPr>
          <p:cNvPr id="2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2C655D32-1057-40A3-B054-5BBE55B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718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27018248-821C-467C-9FC2-698FA99D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8B17A-C11D-4081-8F9E-06E54A47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71750"/>
            <a:ext cx="2000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c2f843e964b1e">
            <a:extLst>
              <a:ext uri="{96DAC541-7B7A-43D3-8B79-37D633B846F1}">
                <asvg:svgBlip xmlns:asvg="http://schemas.microsoft.com/office/drawing/2016/SVG/main" r:embed="R2f7dc9c85a4f4a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28003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B1186-4CD7-4CA0-91C3-E591A7E9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95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Data 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7012C-5AF4-4743-A6AA-2EA3F628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76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PostgreSQL: mahasiswa, wilayah, users, usergroups, tokens,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63EA0-73B8-446E-B79C-90D8515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19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C"/>
          </a:solidFill>
          <a:ln xmlns:a="http://schemas.openxmlformats.org/drawingml/2006/main" w="9525">
            <a:solidFill>
              <a:srgbClr val="C9DDCD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18"/>
                </a:solidFill>
                <a:latin typeface="Aptos"/>
                <a:ea typeface="Aptos"/>
                <a:cs typeface="Aptos"/>
              </a:rPr>
              <a:t>Route evidence: api/routes/web.php sudah mencatat auth, public wilayah, classifier, activity logs, users, wilayah, dashboard summary/chart/tree, map endpoints, mahasiswa CRUD, dan import scan/confirm/template.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E5E5B1-4B51-48C3-9115-991EE9AE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A12857C-642B-438B-BB8B-4D73D482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6C08B1-0B88-4444-8212-E0731D7A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88975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12B864-7DD0-4C7B-A337-9BF5AD3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9D661B-7180-4C55-9E06-0BD531B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224657-71FB-4598-B3A3-30F2FC7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F073337-E914-4A97-BB70-CBB64259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Alamat mahasiswa sudah diproses sebagai pipeline yang bisa direview.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22486F00-DB2F-4D5C-8CA5-9785D920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Pipeline tidak lagi sekadar menyimpan alamat mentah; sistem memberi confidence, status review, valid flag, dan kandidat wilayah alternatif.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EE57A-E2BB-4FDC-8E50-5B789BA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02d3df64e4e54">
            <a:extLst>
              <a:ext uri="{96DAC541-7B7A-43D3-8B79-37D633B846F1}">
                <asvg:svgBlip xmlns:asvg="http://schemas.microsoft.com/office/drawing/2016/SVG/main" r:embed="Rb63853466e4e47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857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8D44C-3F86-49B8-82C7-31F51E8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E9AF5-B874-4CDA-B120-8B62550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CRUD atau import Excel</a:t>
            </a:r>
          </a:p>
        </p:txBody>
      </p:sp>
      <p:sp>
        <p:nvSpPr>
          <p:cNvPr id="10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9723BFA3-EEC0-487C-8E4B-4BBF0E84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909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300752D7-6B59-412E-B783-1DB29CD0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432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A2C12-D8DE-4809-8F69-CAC94C0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e1d38be2240fb">
            <a:extLst>
              <a:ext uri="{96DAC541-7B7A-43D3-8B79-37D633B846F1}">
                <asvg:svgBlip xmlns:asvg="http://schemas.microsoft.com/office/drawing/2016/SVG/main" r:embed="R1f26bd429e0f44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0825" y="2857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BED4F-AE3C-4F3D-9CE2-D859220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95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Cleansing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9136C-6F85-4476-8AD2-A8D8B8B4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29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uppercase, stop word, token tanpa angka</a:t>
            </a:r>
          </a:p>
        </p:txBody>
      </p:sp>
      <p:sp>
        <p:nvSpPr>
          <p:cNvPr id="16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6F2C084B-1524-486F-9D65-5B9C37BB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C8D51678-3000-4CBD-965B-114B5C6B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432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4864D-8DEF-4797-B0B9-D427ECD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1d544656846fd">
            <a:extLst>
              <a:ext uri="{96DAC541-7B7A-43D3-8B79-37D633B846F1}">
                <asvg:svgBlip xmlns:asvg="http://schemas.microsoft.com/office/drawing/2016/SVG/main" r:embed="R865ab92a5f1f42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57750" y="2857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18D74-C099-4DEF-8DCE-56B224C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Classifier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C7E8B-74C0-496A-A67A-7EBD18A3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29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exact, contains, fuzzy, alias, hierarchy scoring</a:t>
            </a:r>
          </a:p>
        </p:txBody>
      </p:sp>
      <p:sp>
        <p:nvSpPr>
          <p:cNvPr id="2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6A60A9E2-93A8-41E4-896A-CF0E3838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3D274D79-334A-459B-AEB9-9AE1B57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432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AD917-75D9-4005-BCF5-7CC9940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9bfd1831e4c8c">
            <a:extLst>
              <a:ext uri="{96DAC541-7B7A-43D3-8B79-37D633B846F1}">
                <asvg:svgBlip xmlns:asvg="http://schemas.microsoft.com/office/drawing/2016/SVG/main" r:embed="Rfc538f44743841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24675" y="2857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91EC2-CE08-43DA-B633-BD62C7A7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95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Geocoding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18B6F-5F0B-420E-86E3-89110BE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29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internal wilayah plus Nominatim opt-in</a:t>
            </a:r>
          </a:p>
        </p:txBody>
      </p:sp>
      <p:sp>
        <p:nvSpPr>
          <p:cNvPr id="28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FF5E301C-2B94-4E60-B76F-FB6AEE9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50E326E9-0A3C-4770-9B7D-046840B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432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5943E-3143-47A2-BB07-4FD6D5B8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1809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fcf78365a40fa">
            <a:extLst>
              <a:ext uri="{96DAC541-7B7A-43D3-8B79-37D633B846F1}">
                <asvg:svgBlip xmlns:asvg="http://schemas.microsoft.com/office/drawing/2016/SVG/main" r:embed="R5a5316193a8d40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91600" y="2857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69B13-2B6B-43D5-8B80-876050A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9647A-2D8F-49E7-87B0-4BC470C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is_valid_address dan geocoding_status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3BD9B5-947F-4E97-8D4B-1E74D511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3086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 retest 223-row draft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79 -&gt; 105 importable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EFEEA8-4751-48BE-A0DB-A3EB588C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29150"/>
            <a:ext cx="3086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F1D58A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47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4700"/>
                </a:solidFill>
                <a:latin typeface="Aptos"/>
                <a:ea typeface="Aptos"/>
                <a:cs typeface="Aptos"/>
              </a:rPr>
              <a:t>90 rows blocked</a:t>
            </a:r>
          </a:p>
          <a:p xmlns:a="http://schemas.openxmlformats.org/drawingml/2006/main">
            <a:pPr algn="l">
              <a:defRPr sz="1500" b="1">
                <a:solidFill>
                  <a:srgbClr val="6247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4700"/>
                </a:solidFill>
                <a:latin typeface="Aptos"/>
                <a:ea typeface="Aptos"/>
                <a:cs typeface="Aptos"/>
              </a:rPr>
              <a:t>karena alamat kosong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D3D1D9-55AD-432B-87B7-23ABBC21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29150"/>
            <a:ext cx="3086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E8"/>
          </a:solidFill>
          <a:ln xmlns:a="http://schemas.openxmlformats.org/drawingml/2006/main" w="9525">
            <a:solidFill>
              <a:srgbClr val="E7B7B7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2626"/>
                </a:solidFill>
                <a:latin typeface="Aptos"/>
                <a:ea typeface="Aptos"/>
                <a:cs typeface="Aptos"/>
              </a:rPr>
              <a:t>28 non-empty rows</a:t>
            </a:r>
          </a:p>
          <a:p xmlns:a="http://schemas.openxmlformats.org/drawingml/2006/main">
            <a:pPr algn="l">
              <a:defRPr sz="1500" b="1">
                <a:solidFill>
                  <a:srgbClr val="7D26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2626"/>
                </a:solidFill>
                <a:latin typeface="Aptos"/>
                <a:ea typeface="Aptos"/>
                <a:cs typeface="Aptos"/>
              </a:rPr>
              <a:t>masih ambigu</a:t>
            </a:r>
          </a:p>
        </p:txBody>
      </p:sp>
      <p:sp>
        <p:nvSpPr>
          <p:cNvPr id="37" name="pill-observed-dari-project-status-md-bukan-klaim-akurasi-final-produksi-">
            <a:extLst xmlns:a="http://schemas.openxmlformats.org/drawingml/2006/main">
              <a:ext uri="{FF2B5EF4-FFF2-40B4-BE49-F238E27FC236}">
                <a16:creationId xmlns:a16="http://schemas.microsoft.com/office/drawing/2014/main" id="{E85DA418-77E1-4B3D-8204-FA1FF10F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dari PROJECT_STATUS.md; bukan klaim akurasi final produksi.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1B13C1D-0990-463C-800F-1D96630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6935A0C-8B65-4BCC-A6D1-CDC7F685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A3B78E3-191F-4D17-A94C-0415A48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15165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D21941-D61B-4BEF-8896-482DEF1C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103223-1342-4CF7-9569-6A683FAB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89617AF-56C8-458C-9F28-E026C31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ADMIN SURFACE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4AFF558-2E6C-462B-BAF1-13650527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Admin portal sudah menjadi pusat operasi data, bukan mockup statis.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BA736EE4-4693-4EDB-AE35-6AFA427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Halaman admin utama telah diganti ke desain GeoVisit PJJ IT dan dihubungkan ke protected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EC4B5-A19C-4B89-BC4C-F86A3F3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143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57784-3C4F-4532-80E6-C9A4E3C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 Shell</a:t>
            </a:r>
          </a:p>
        </p:txBody>
      </p:sp>
      <p:sp>
        <p:nvSpPr>
          <p:cNvPr id="8" name="admin-nav-0">
            <a:extLst xmlns:a="http://schemas.openxmlformats.org/drawingml/2006/main">
              <a:ext uri="{FF2B5EF4-FFF2-40B4-BE49-F238E27FC236}">
                <a16:creationId xmlns:a16="http://schemas.microsoft.com/office/drawing/2014/main" id="{21E229B4-57B6-4883-BE96-A83D572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11EE3-5CF5-49BD-BC8E-2154F0B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admin-nav-1">
            <a:extLst xmlns:a="http://schemas.openxmlformats.org/drawingml/2006/main">
              <a:ext uri="{FF2B5EF4-FFF2-40B4-BE49-F238E27FC236}">
                <a16:creationId xmlns:a16="http://schemas.microsoft.com/office/drawing/2014/main" id="{77946136-C1D0-4F7E-BAB1-FCFB023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0E587-7E5F-434E-9265-91BCD8E4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Mahasiswa</a:t>
            </a:r>
          </a:p>
        </p:txBody>
      </p:sp>
      <p:sp>
        <p:nvSpPr>
          <p:cNvPr id="12" name="admin-nav-2">
            <a:extLst xmlns:a="http://schemas.openxmlformats.org/drawingml/2006/main">
              <a:ext uri="{FF2B5EF4-FFF2-40B4-BE49-F238E27FC236}">
                <a16:creationId xmlns:a16="http://schemas.microsoft.com/office/drawing/2014/main" id="{FF5F597C-1CA6-4047-A5F2-82A5847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5A1E3-6D42-4356-9E14-49AAB191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Management</a:t>
            </a:r>
          </a:p>
        </p:txBody>
      </p:sp>
      <p:sp>
        <p:nvSpPr>
          <p:cNvPr id="14" name="admin-nav-3">
            <a:extLst xmlns:a="http://schemas.openxmlformats.org/drawingml/2006/main">
              <a:ext uri="{FF2B5EF4-FFF2-40B4-BE49-F238E27FC236}">
                <a16:creationId xmlns:a16="http://schemas.microsoft.com/office/drawing/2014/main" id="{738D1AF9-78B7-4E1D-BED8-5FC44558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AE0C1-526E-4077-94EF-C101086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Wilayah</a:t>
            </a:r>
          </a:p>
        </p:txBody>
      </p:sp>
      <p:sp>
        <p:nvSpPr>
          <p:cNvPr id="16" name="admin-nav-4">
            <a:extLst xmlns:a="http://schemas.openxmlformats.org/drawingml/2006/main">
              <a:ext uri="{FF2B5EF4-FFF2-40B4-BE49-F238E27FC236}">
                <a16:creationId xmlns:a16="http://schemas.microsoft.com/office/drawing/2014/main" id="{D77D0ECB-7ED2-4612-93F8-A11A05A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D32DC-C9D3-45D5-9471-3536C00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Log Aktivitas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425A-D333-48ED-8E38-34E1E18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b9af538514b70">
            <a:extLst>
              <a:ext uri="{96DAC541-7B7A-43D3-8B79-37D633B846F1}">
                <asvg:svgBlip xmlns:asvg="http://schemas.microsoft.com/office/drawing/2016/SVG/main" r:embed="R655623dc08d849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6245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6E190-FB48-445B-BEF6-F32E139E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Mahasiswa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DB455-1950-44D4-AA3B-AF5845B2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List/search/pagination, create, update, delete, import scan/confirm/template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874CE-9AA7-4528-B7A0-C6BD25E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79dc7208649dc">
            <a:extLst>
              <a:ext uri="{96DAC541-7B7A-43D3-8B79-37D633B846F1}">
                <asvg:svgBlip xmlns:asvg="http://schemas.microsoft.com/office/drawing/2016/SVG/main" r:embed="Ra582ebb2c44d41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27813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56177-105C-4CEC-8E39-1ED9DADA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Users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549727-3EFF-4784-9760-2B7CC6B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CRUD, filter, detail, reset password, usergroup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E1F29-D687-44D1-8F3F-39B8E1B0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e3da9018345e3">
            <a:extLst>
              <a:ext uri="{96DAC541-7B7A-43D3-8B79-37D633B846F1}">
                <asvg:svgBlip xmlns:asvg="http://schemas.microsoft.com/office/drawing/2016/SVG/main" r:embed="R3f8ae4c818f24b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62450" y="4343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246F2-8DFE-448B-B18F-FD545F7B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24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Wilayah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BF9A71-E6E3-4ABD-8FF3-C896A97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43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Master wilayah dan hierarki administratif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5E04F3-2285-4A4F-B583-F88CF5B5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952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fb7f27b9c4121">
            <a:extLst>
              <a:ext uri="{96DAC541-7B7A-43D3-8B79-37D633B846F1}">
                <asvg:svgBlip xmlns:asvg="http://schemas.microsoft.com/office/drawing/2016/SVG/main" r:embed="Rab28af1ee7cc45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96200" y="43434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D24DE-9D6A-42F8-A19B-9E52A93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Activity Logs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9B0B7-490A-40CB-BEB1-A869D70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Summary, search/filter, detail modal, CSV export</a:t>
            </a:r>
          </a:p>
        </p:txBody>
      </p:sp>
      <p:sp>
        <p:nvSpPr>
          <p:cNvPr id="34" name="pill-admin-auth-protection-tersentral-di-layout-login-redirect-membedakan-admin-dan-non-admin-">
            <a:extLst xmlns:a="http://schemas.openxmlformats.org/drawingml/2006/main">
              <a:ext uri="{FF2B5EF4-FFF2-40B4-BE49-F238E27FC236}">
                <a16:creationId xmlns:a16="http://schemas.microsoft.com/office/drawing/2014/main" id="{A05EB9F2-ABFB-4199-B72B-9858551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8165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auth protection tersentral di layout; login redirect membedakan admin dan non-admin.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984329-9AA2-4E5B-B051-3B640646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8EA6BEF-110F-45AC-A778-5F30E6F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24F7AD-9E63-48A7-933D-ADA1CDEF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3182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A47A328-9CAB-4352-9F76-D87BA5A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F056E1-2D18-49C3-AA7E-889C5DE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A2C941-AAB9-44DA-A14D-26CBF931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DASHBOARDS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C7F436B-AACA-4967-AFA0-F7D83684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Dashboard sudah membaca pola persebaran dari API, bukan data contoh.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5BBDE13-29B4-4A84-AC55-AC4D131A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Admin dan non-admin memakai endpoint dashboard summary, chart, dan wilayah-tree; alamat invalid difilter dari statistik/peta non-admin.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B2459-B0FC-4844-9469-00BA61B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481012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3D454-D518-4E1C-BB96-0C43C470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Capability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590E-31A4-4AC4-8538-7D8159D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7003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Summary cards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421C-78CE-4582-91AA-17D4819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813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10" name="bar-bg-Summary cards">
            <a:extLst xmlns:a="http://schemas.openxmlformats.org/drawingml/2006/main">
              <a:ext uri="{FF2B5EF4-FFF2-40B4-BE49-F238E27FC236}">
                <a16:creationId xmlns:a16="http://schemas.microsoft.com/office/drawing/2014/main" id="{E982511F-79D7-4DE1-8FA5-FF103017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85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ar-fill-Summary cards">
            <a:extLst xmlns:a="http://schemas.openxmlformats.org/drawingml/2006/main">
              <a:ext uri="{FF2B5EF4-FFF2-40B4-BE49-F238E27FC236}">
                <a16:creationId xmlns:a16="http://schemas.microsoft.com/office/drawing/2014/main" id="{6317510A-D08D-45EC-BB0D-B5E619A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471863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AB4D5-55FF-40EF-A626-1B6FB10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3857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Jumlah mahasiswa, wilayah, coverage, dan data lokasi bermasalah.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4E040-ECE9-424B-9C60-1FF891C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7003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Distribution 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09485-5D35-4E9F-9457-142E28B8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57625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15" name="bar-bg-Distribution chart">
            <a:extLst xmlns:a="http://schemas.openxmlformats.org/drawingml/2006/main">
              <a:ext uri="{FF2B5EF4-FFF2-40B4-BE49-F238E27FC236}">
                <a16:creationId xmlns:a16="http://schemas.microsoft.com/office/drawing/2014/main" id="{2315DC12-09F9-4994-996A-3FD5774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385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ar-fill-Distribution chart">
            <a:extLst xmlns:a="http://schemas.openxmlformats.org/drawingml/2006/main">
              <a:ext uri="{FF2B5EF4-FFF2-40B4-BE49-F238E27FC236}">
                <a16:creationId xmlns:a16="http://schemas.microsoft.com/office/drawing/2014/main" id="{E57E2F3A-ACA8-4EB9-828A-476E945E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339471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79CD6-7697-4E82-9E5D-79FAABA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3857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Highcharts re-render mengikuti tema aktif.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4D0E2-D8E4-48A2-BFEA-6EE2D8F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7003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Wilayah 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0D23A-223A-42A5-AA9B-C34F79E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5339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20" name="bar-bg-Wilayah tree">
            <a:extLst xmlns:a="http://schemas.openxmlformats.org/drawingml/2006/main">
              <a:ext uri="{FF2B5EF4-FFF2-40B4-BE49-F238E27FC236}">
                <a16:creationId xmlns:a16="http://schemas.microsoft.com/office/drawing/2014/main" id="{19CF8B43-748E-4D88-BA2C-840FE64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85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bar-fill-Wilayah tree">
            <a:extLst xmlns:a="http://schemas.openxmlformats.org/drawingml/2006/main">
              <a:ext uri="{FF2B5EF4-FFF2-40B4-BE49-F238E27FC236}">
                <a16:creationId xmlns:a16="http://schemas.microsoft.com/office/drawing/2014/main" id="{CABDE7FB-204A-4B28-865F-A5F4A03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31755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3CFC3-F27E-4748-A87D-A91111C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3857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Tabel hierarki expandable untuk eksplorasi administratif.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B766B-2B3B-4250-8BF3-F39E956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4648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FF63E-6650-49C0-BDB0-5CFC338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Audience split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6cafe499545de">
            <a:extLst>
              <a:ext uri="{96DAC541-7B7A-43D3-8B79-37D633B846F1}">
                <asvg:svgBlip xmlns:asvg="http://schemas.microsoft.com/office/drawing/2016/SVG/main" r:embed="R97442e02ba8344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05550" y="33528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733AD-DA68-4066-A2BD-B9FD3F1F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69671-E781-4483-B466-F924BAF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Mengelola data, memantau log, melihat data lokasi bermasalah, dan membaca agregasi penuh.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a3d469db94040">
            <a:extLst>
              <a:ext uri="{96DAC541-7B7A-43D3-8B79-37D633B846F1}">
                <asvg:svgBlip xmlns:asvg="http://schemas.microsoft.com/office/drawing/2016/SVG/main" r:embed="Rf83369f5b41d42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05550" y="4400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C60CF-7141-4685-92DE-EF602D9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Dosen/Mahasiswa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56052-AAF4-4183-9767-755B7E2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Mengakses dashboard chart dan peta 3D tanpa mengelola master data.</a:t>
            </a:r>
          </a:p>
        </p:txBody>
      </p:sp>
      <p:sp>
        <p:nvSpPr>
          <p:cNvPr id="31" name="pill-observed-local-route-smoke-test-sebelumnya-http-200-untuk-route-dashboard-utama-">
            <a:extLst xmlns:a="http://schemas.openxmlformats.org/drawingml/2006/main">
              <a:ext uri="{FF2B5EF4-FFF2-40B4-BE49-F238E27FC236}">
                <a16:creationId xmlns:a16="http://schemas.microsoft.com/office/drawing/2014/main" id="{D4B8A916-89D4-4CFD-9DAF-B1E0BDB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Observed: local route smoke test sebelumnya HTTP 200 untuk route dashboard utama.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529D0F-F402-4D5C-B721-864F85D1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B2F08E9-6E64-4CA1-B471-E766659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5FB420D-FA96-47E6-A0BF-87BFE4F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98816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F3B47C-AB5E-4FC8-A662-245DE8FB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D6FF68-E37E-436D-BDA8-97550DE0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279073D-7669-41C3-AE42-E60B621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3D 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C60A8AB-211B-406F-AF5D-F003EC3B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Cesium map sudah terhubung ke data wilayah dan mahasiswa.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12EFA565-4BD4-4CA3-9EC8-79345216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Mode peta 3D menampilkan marker wilayah, pencarian mahasiswa, drilldown klik, breadcrumb, label scoped, terrain-aware marker, dan optimasi rendering.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2EC5F-439E-4E8E-BBD4-69E4DA2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5619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2ed0eb1374777">
            <a:extLst>
              <a:ext uri="{96DAC541-7B7A-43D3-8B79-37D633B846F1}">
                <asvg:svgBlip xmlns:asvg="http://schemas.microsoft.com/office/drawing/2016/SVG/main" r:embed="Rec4febc81a1d44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9337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8" name="map-arc-a">
            <a:extLst xmlns:a="http://schemas.openxmlformats.org/drawingml/2006/main">
              <a:ext uri="{FF2B5EF4-FFF2-40B4-BE49-F238E27FC236}">
                <a16:creationId xmlns:a16="http://schemas.microsoft.com/office/drawing/2014/main" id="{60E86198-9BB9-4192-B882-6405AB2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05125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map-arc-b">
            <a:extLst xmlns:a="http://schemas.openxmlformats.org/drawingml/2006/main">
              <a:ext uri="{FF2B5EF4-FFF2-40B4-BE49-F238E27FC236}">
                <a16:creationId xmlns:a16="http://schemas.microsoft.com/office/drawing/2014/main" id="{210B6B2E-34AD-4CEB-9C4D-8F32F583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map-arc-c">
            <a:extLst xmlns:a="http://schemas.openxmlformats.org/drawingml/2006/main">
              <a:ext uri="{FF2B5EF4-FFF2-40B4-BE49-F238E27FC236}">
                <a16:creationId xmlns:a16="http://schemas.microsoft.com/office/drawing/2014/main" id="{8AAE48FC-4220-4D0D-94B8-CADC4CA6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E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p-marker">
            <a:extLst xmlns:a="http://schemas.openxmlformats.org/drawingml/2006/main">
              <a:ext uri="{FF2B5EF4-FFF2-40B4-BE49-F238E27FC236}">
                <a16:creationId xmlns:a16="http://schemas.microsoft.com/office/drawing/2014/main" id="{24BC2871-5C88-47CC-80C9-EBB4FB8D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map-marker">
            <a:extLst xmlns:a="http://schemas.openxmlformats.org/drawingml/2006/main">
              <a:ext uri="{FF2B5EF4-FFF2-40B4-BE49-F238E27FC236}">
                <a16:creationId xmlns:a16="http://schemas.microsoft.com/office/drawing/2014/main" id="{30D28700-6354-405B-8550-6A8A2347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map-marker">
            <a:extLst xmlns:a="http://schemas.openxmlformats.org/drawingml/2006/main">
              <a:ext uri="{FF2B5EF4-FFF2-40B4-BE49-F238E27FC236}">
                <a16:creationId xmlns:a16="http://schemas.microsoft.com/office/drawing/2014/main" id="{8F958A91-6209-46A2-8D5A-D2E836C6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map-marker">
            <a:extLst xmlns:a="http://schemas.openxmlformats.org/drawingml/2006/main">
              <a:ext uri="{FF2B5EF4-FFF2-40B4-BE49-F238E27FC236}">
                <a16:creationId xmlns:a16="http://schemas.microsoft.com/office/drawing/2014/main" id="{217DDDAB-F199-4D96-B33B-3747CEB8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C3B2E-999A-40B3-9C10-60B5699A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3D map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3B8F3-56C3-4756-8F34-D631F8E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Full-bleed Cesium viewer with API-backed region and student markers.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F50C0-BED1-4108-807D-812C0AF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3924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feature-dot">
            <a:extLst xmlns:a="http://schemas.openxmlformats.org/drawingml/2006/main">
              <a:ext uri="{FF2B5EF4-FFF2-40B4-BE49-F238E27FC236}">
                <a16:creationId xmlns:a16="http://schemas.microsoft.com/office/drawing/2014/main" id="{B2AE1B49-32FE-4046-B313-24C29681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765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4722E-A9BA-4A64-9E82-79C9639E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Click-first drilldown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F3661-D838-48C6-9F4D-C8066F8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Klik wilayah mengambil child wilayah langsung; zoom/pan tidak lagi memicu fetch level global.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8013CE-EC0F-4689-B44B-BC7427E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924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feature-dot">
            <a:extLst xmlns:a="http://schemas.openxmlformats.org/drawingml/2006/main">
              <a:ext uri="{FF2B5EF4-FFF2-40B4-BE49-F238E27FC236}">
                <a16:creationId xmlns:a16="http://schemas.microsoft.com/office/drawing/2014/main" id="{1B8FF778-A7B6-41F5-A4CB-29B4098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59E12-2637-4A2D-B69E-431AE65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Search and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61E01-0E28-47E0-A2BD-7F3C14FC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956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Wilayah atau mahasiswa terpilih memusatkan kamera ke top-down terrain-relative 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E2F53-7035-47D4-84B3-71E72002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3924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feature-dot">
            <a:extLst xmlns:a="http://schemas.openxmlformats.org/drawingml/2006/main">
              <a:ext uri="{FF2B5EF4-FFF2-40B4-BE49-F238E27FC236}">
                <a16:creationId xmlns:a16="http://schemas.microsoft.com/office/drawing/2014/main" id="{F323E1D6-C1EB-49BC-B76D-9B5A55B2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26768-5BDF-4E12-9E7F-47022EEB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Performance 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1F95F5-30B2-4A72-8547-62032B4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767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Primitive collections, cache payload, request-render mode, label limits, dan terrain height cache.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C99462-07E3-43B6-BF45-D63DA140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3924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feature-dot">
            <a:extLst xmlns:a="http://schemas.openxmlformats.org/drawingml/2006/main">
              <a:ext uri="{FF2B5EF4-FFF2-40B4-BE49-F238E27FC236}">
                <a16:creationId xmlns:a16="http://schemas.microsoft.com/office/drawing/2014/main" id="{00636D33-6077-43BC-8CB2-FE414871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FB0C2-517A-4AB7-A89F-E11D525C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Data quality filter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DEF6E-7D67-4933-AC17-2A23104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577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Alamat invalid disembunyikan dari peta/search untuk non-admin.</a:t>
            </a:r>
          </a:p>
        </p:txBody>
      </p:sp>
      <p:sp>
        <p:nvSpPr>
          <p:cNvPr id="33" name="pill-route-tersedia-sebagai-dashbord-map-dengan-alias-dashboard-map-">
            <a:extLst xmlns:a="http://schemas.openxmlformats.org/drawingml/2006/main">
              <a:ext uri="{FF2B5EF4-FFF2-40B4-BE49-F238E27FC236}">
                <a16:creationId xmlns:a16="http://schemas.microsoft.com/office/drawing/2014/main" id="{0525D038-C8CD-4F03-9358-AAD2414E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00725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tersedia sebagai /dashbord/map dengan alias /dashboard/map.</a:t>
            </a:r>
          </a:p>
        </p:txBody>
      </p:sp>
      <p:sp>
        <p:nvSpPr>
          <p:cNvPr id="3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2ADCFC-F8B6-4FB5-9E7D-8C8C8B2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2C1EB68-FB2A-4AD2-8A9B-C0C57F1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31DFA82-AA8C-43ED-8877-587DF088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407835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9A12700-7459-49F4-BEA5-90EF999D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6C023F8-F964-42F9-AE6C-5F8212E2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2933A-9A3E-472D-BC58-96975E3B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GAPS AND RISKS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E9C505C-65E8-4837-A26E-A6B581A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33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Sisa pekerjaan paling penting sudah jelas: routing, test, dan hardening.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BDBE80D-D55B-4C0E-8D14-83DC151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Tidak ada blocked task yang tercatat, tetapi beberapa risiko masih mempengaruhi kesiapan demo akhir dan produksi.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0CDFF-C6E1-4BB3-A500-0949AA9F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9525">
            <a:solidFill>
              <a:srgbClr val="102018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 | Current gap |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BAF47-EFF6-425D-9E52-724E3AB7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009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risk-accent">
            <a:extLst xmlns:a="http://schemas.openxmlformats.org/drawingml/2006/main">
              <a:ext uri="{FF2B5EF4-FFF2-40B4-BE49-F238E27FC236}">
                <a16:creationId xmlns:a16="http://schemas.microsoft.com/office/drawing/2014/main" id="{EDFFA4CB-FB99-4EE4-B297-D8BB208A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62DD3-D3DD-4343-A94D-482D19F6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Route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DF75-C59F-4DE7-9535-70852C8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5277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Rule set dan data contract belum final</a:t>
            </a:r>
          </a:p>
        </p:txBody>
      </p:sp>
      <p:sp>
        <p:nvSpPr>
          <p:cNvPr id="11" name="pill-p0">
            <a:extLst xmlns:a="http://schemas.openxmlformats.org/drawingml/2006/main">
              <a:ext uri="{FF2B5EF4-FFF2-40B4-BE49-F238E27FC236}">
                <a16:creationId xmlns:a16="http://schemas.microsoft.com/office/drawing/2014/main" id="{3D3C20CD-6310-470F-9EBD-8FEAF00A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337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A5D55-6A63-4559-95C8-38E219C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009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risk-accent">
            <a:extLst xmlns:a="http://schemas.openxmlformats.org/drawingml/2006/main">
              <a:ext uri="{FF2B5EF4-FFF2-40B4-BE49-F238E27FC236}">
                <a16:creationId xmlns:a16="http://schemas.microsoft.com/office/drawing/2014/main" id="{E7F2EE15-CA96-4E63-91F2-3A469D5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DD459-6C14-42E5-ACD7-04CAC68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API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D3704-BA84-46AB-9D56-09AA96F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2427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Public wilayah dan classifier belum punya coverage otomatis</a:t>
            </a:r>
          </a:p>
        </p:txBody>
      </p:sp>
      <p:sp>
        <p:nvSpPr>
          <p:cNvPr id="16" name="pill-p1">
            <a:extLst xmlns:a="http://schemas.openxmlformats.org/drawingml/2006/main">
              <a:ext uri="{FF2B5EF4-FFF2-40B4-BE49-F238E27FC236}">
                <a16:creationId xmlns:a16="http://schemas.microsoft.com/office/drawing/2014/main" id="{08B70282-9F6F-4D82-BE70-FD09988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052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A86A3-FAB6-4E53-8BEB-9F01878A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009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risk-accent">
            <a:extLst xmlns:a="http://schemas.openxmlformats.org/drawingml/2006/main">
              <a:ext uri="{FF2B5EF4-FFF2-40B4-BE49-F238E27FC236}">
                <a16:creationId xmlns:a16="http://schemas.microsoft.com/office/drawing/2014/main" id="{64D5E3A4-B39D-4F65-9E3F-2B97AA3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81506-27AE-4CAE-BA3E-F088C483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Nominatim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FD559-E038-4E6E-85A5-0B4AA5A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Cache eksternal belum persistent untuk bulk import</a:t>
            </a:r>
          </a:p>
        </p:txBody>
      </p:sp>
      <p:sp>
        <p:nvSpPr>
          <p:cNvPr id="21" name="pill-p1">
            <a:extLst xmlns:a="http://schemas.openxmlformats.org/drawingml/2006/main">
              <a:ext uri="{FF2B5EF4-FFF2-40B4-BE49-F238E27FC236}">
                <a16:creationId xmlns:a16="http://schemas.microsoft.com/office/drawing/2014/main" id="{6C332BB6-6C0D-4C8A-A56E-27676BB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767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9F8E9-5FB6-404B-B660-63630791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009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risk-accent">
            <a:extLst xmlns:a="http://schemas.openxmlformats.org/drawingml/2006/main">
              <a:ext uri="{FF2B5EF4-FFF2-40B4-BE49-F238E27FC236}">
                <a16:creationId xmlns:a16="http://schemas.microsoft.com/office/drawing/2014/main" id="{48B7E4C9-DC48-4202-9B1D-A51A36F1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A63B-C2C7-4BFB-9EFA-EDCCB8A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Production config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F76D5-9807-4327-94CF-C80C2385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6727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Credential database produksi belum diketahui</a:t>
            </a:r>
          </a:p>
        </p:txBody>
      </p:sp>
      <p:sp>
        <p:nvSpPr>
          <p:cNvPr id="26" name="pill-risk">
            <a:extLst xmlns:a="http://schemas.openxmlformats.org/drawingml/2006/main">
              <a:ext uri="{FF2B5EF4-FFF2-40B4-BE49-F238E27FC236}">
                <a16:creationId xmlns:a16="http://schemas.microsoft.com/office/drawing/2014/main" id="{2372044B-C0C1-4756-80FE-349D2D5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482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7C4E3-320E-4932-A2EF-A02BBE9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09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6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risk-accent">
            <a:extLst xmlns:a="http://schemas.openxmlformats.org/drawingml/2006/main">
              <a:ext uri="{FF2B5EF4-FFF2-40B4-BE49-F238E27FC236}">
                <a16:creationId xmlns:a16="http://schemas.microsoft.com/office/drawing/2014/main" id="{2DA75227-E363-4182-A275-6233EA3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50F1DD-5D95-4138-AECE-AA50C9AC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CSS minification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F85E3E-853F-481D-9A1B-F011501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38775"/>
            <a:ext cx="504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cssnano masih disabled sebagai workaround build</a:t>
            </a:r>
          </a:p>
        </p:txBody>
      </p:sp>
      <p:sp>
        <p:nvSpPr>
          <p:cNvPr id="31" name="pill-risk">
            <a:extLst xmlns:a="http://schemas.openxmlformats.org/drawingml/2006/main">
              <a:ext uri="{FF2B5EF4-FFF2-40B4-BE49-F238E27FC236}">
                <a16:creationId xmlns:a16="http://schemas.microsoft.com/office/drawing/2014/main" id="{6DDA1DFA-2D0B-4281-BDF4-132B521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97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1c5f0fc8a44eb">
            <a:extLst>
              <a:ext uri="{96DAC541-7B7A-43D3-8B79-37D633B846F1}">
                <asvg:svgBlip xmlns:asvg="http://schemas.microsoft.com/office/drawing/2016/SVG/main" r:embed="R829043399c564b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05875" y="13811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49FCB3-17C4-451F-95B5-C65FE435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018"/>
                </a:solidFill>
                <a:latin typeface="Aptos Display"/>
                <a:ea typeface="Aptos Display"/>
                <a:cs typeface="Aptos Display"/>
              </a:rPr>
              <a:t>Interpretasi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80B80-A524-4C20-92C2-45FF7A8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76400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Project sudah layak untuk demo visualisasi, tetapi belum layak diklaim selesai total sampai simulasi rute dan validasi otomatis ditutup.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622834-5AFD-48D4-A3C6-8B0C04B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3159681-DDEF-4010-BDE2-18B4CE6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4725240-8BC4-4A00-AAEB-E675DDE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973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973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30899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061303B-4BBC-4CFB-A129-124A521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5AF7D7-CAD1-4ADA-8255-A81978F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0F282F-E6B2-41BF-93AE-5107890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3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3EA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8975CCE-2624-4783-BD3B-0849AF79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Tahap berikutnya adalah mengubah fondasi visualisasi menjadi demo rute yang lengkap.</a:t>
            </a:r>
          </a:p>
        </p:txBody>
      </p:sp>
      <p:sp>
        <p:nvSpPr>
          <p:cNvPr id="5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ED48061E-C780-4B4C-BFC3-33D44AC3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Fokus rekomendasi dibuat sempit agar progress berikutnya langsung mengurangi gap terbesar.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9EBB0-8B4C-4229-A49E-3B6471E1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9"/>
          </a:solidFill>
          <a:ln xmlns:a="http://schemas.openxmlformats.org/drawingml/2006/main" w="9525">
            <a:solidFill>
              <a:srgbClr val="33584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admap-index">
            <a:extLst xmlns:a="http://schemas.openxmlformats.org/drawingml/2006/main">
              <a:ext uri="{FF2B5EF4-FFF2-40B4-BE49-F238E27FC236}">
                <a16:creationId xmlns:a16="http://schemas.microsoft.com/office/drawing/2014/main" id="{6021C94E-1745-4F44-B9BB-887FC0DD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683D1-2033-4B4C-B6D1-8D637F0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908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e92ed32694fe0">
            <a:extLst>
              <a:ext uri="{96DAC541-7B7A-43D3-8B79-37D633B846F1}">
                <asvg:svgBlip xmlns:asvg="http://schemas.microsoft.com/office/drawing/2016/SVG/main" r:embed="R9248ff8a0edf45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47900" y="29432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6C827-22D5-4AB5-8B5A-BEC89B04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Kunci aturan rute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73163-9317-4597-9330-5F9B7012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Titik awal/akhir, prioritas mahasiswa, batas visitasi, durasi, dan kriteria efisiensi.</a:t>
            </a:r>
          </a:p>
        </p:txBody>
      </p:sp>
      <p:sp>
        <p:nvSpPr>
          <p:cNvPr id="12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86A73D60-237F-487C-B612-6135B33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04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1AAD4875-BAFC-44F0-8E4F-EE7E1F41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528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B99B2-5434-456E-A42E-C1C05080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1462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9"/>
          </a:solidFill>
          <a:ln xmlns:a="http://schemas.openxmlformats.org/drawingml/2006/main" w="9525">
            <a:solidFill>
              <a:srgbClr val="33584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roadmap-index">
            <a:extLst xmlns:a="http://schemas.openxmlformats.org/drawingml/2006/main">
              <a:ext uri="{FF2B5EF4-FFF2-40B4-BE49-F238E27FC236}">
                <a16:creationId xmlns:a16="http://schemas.microsoft.com/office/drawing/2014/main" id="{1F660351-F648-40E8-B84B-5DB571E3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AEC82-63E9-40F2-9381-A0141DDD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2fb284edc40b7">
            <a:extLst>
              <a:ext uri="{96DAC541-7B7A-43D3-8B79-37D633B846F1}">
                <asvg:svgBlip xmlns:asvg="http://schemas.microsoft.com/office/drawing/2016/SVG/main" r:embed="Rb8c1c0e7c8684e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29432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6CE1A-2295-484E-9D44-EF0DF058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956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Buat service dan kontrak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E8C3B-F8F6-4CC9-A96D-4AACE33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86225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Endpoint simulasi, request/response shape, matriks jarak/waktu, dan fallback bila OSRM belum aktif.</a:t>
            </a:r>
          </a:p>
        </p:txBody>
      </p:sp>
      <p:sp>
        <p:nvSpPr>
          <p:cNvPr id="20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9E914E44-FCDC-4759-A36D-E475D227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004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112AABFE-CDCC-4395-9344-81BAD024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528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2B4AA-2391-41CA-A822-1DBD7CCD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9"/>
          </a:solidFill>
          <a:ln xmlns:a="http://schemas.openxmlformats.org/drawingml/2006/main" w="9525">
            <a:solidFill>
              <a:srgbClr val="33584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roadmap-index">
            <a:extLst xmlns:a="http://schemas.openxmlformats.org/drawingml/2006/main">
              <a:ext uri="{FF2B5EF4-FFF2-40B4-BE49-F238E27FC236}">
                <a16:creationId xmlns:a16="http://schemas.microsoft.com/office/drawing/2014/main" id="{F8AAF408-74B5-497B-88CC-AFC645B0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032D3-9CC1-4936-AC5B-9EE239F3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908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b4f37479e4862">
            <a:extLst>
              <a:ext uri="{96DAC541-7B7A-43D3-8B79-37D633B846F1}">
                <asvg:svgBlip xmlns:asvg="http://schemas.microsoft.com/office/drawing/2016/SVG/main" r:embed="R1610ecf3fe9044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77150" y="29432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8F1A55-066B-46FB-BD14-54065BD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Integrasi UI peta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C6ED59-F563-45C3-9769-14F06B5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86225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Pilih mahasiswa, tampilkan urutan visitasi, jarak/waktu, dan polyline route di Cesium.</a:t>
            </a:r>
          </a:p>
        </p:txBody>
      </p:sp>
      <p:sp>
        <p:nvSpPr>
          <p:cNvPr id="28" name="connector-line">
            <a:extLst xmlns:a="http://schemas.openxmlformats.org/drawingml/2006/main">
              <a:ext uri="{FF2B5EF4-FFF2-40B4-BE49-F238E27FC236}">
                <a16:creationId xmlns:a16="http://schemas.microsoft.com/office/drawing/2014/main" id="{C40AF9E4-D6F9-4CCF-8AD8-F4E8BFE0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0047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connector-head">
            <a:extLst xmlns:a="http://schemas.openxmlformats.org/drawingml/2006/main">
              <a:ext uri="{FF2B5EF4-FFF2-40B4-BE49-F238E27FC236}">
                <a16:creationId xmlns:a16="http://schemas.microsoft.com/office/drawing/2014/main" id="{E516A30E-2758-4A5E-A2E1-D09F4C76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0E5C3-913C-4F55-90BC-60D5B37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1462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529"/>
          </a:solidFill>
          <a:ln xmlns:a="http://schemas.openxmlformats.org/drawingml/2006/main" w="9525">
            <a:solidFill>
              <a:srgbClr val="335848"/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roadmap-index">
            <a:extLst xmlns:a="http://schemas.openxmlformats.org/drawingml/2006/main">
              <a:ext uri="{FF2B5EF4-FFF2-40B4-BE49-F238E27FC236}">
                <a16:creationId xmlns:a16="http://schemas.microsoft.com/office/drawing/2014/main" id="{1B482F5A-6C0F-4693-B25E-B026522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241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ABDEFA-9E94-4AD5-93E8-4528EC02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08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99bbd31264cd7">
            <a:extLst>
              <a:ext uri="{96DAC541-7B7A-43D3-8B79-37D633B846F1}">
                <asvg:svgBlip xmlns:asvg="http://schemas.microsoft.com/office/drawing/2016/SVG/main" r:embed="R79f6d348fe9f48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91775" y="29432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CEAC6-07B4-46CA-A407-FFE522AF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95675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Validasi demo akhir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E32A69-B031-4485-ACBD-25CF1AA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86225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D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D2"/>
                </a:solidFill>
                <a:latin typeface="Aptos"/>
                <a:ea typeface="Aptos"/>
                <a:cs typeface="Aptos"/>
              </a:rPr>
              <a:t>Test classifier/dashboard/map/routing, siapkan data contoh, dan narasi demo sidang.</a:t>
            </a:r>
          </a:p>
        </p:txBody>
      </p:sp>
      <p:sp>
        <p:nvSpPr>
          <p:cNvPr id="36" name="pill-closing-message-progress-sudah-kuat-di-data-visualisasi-milestone-tersisa-adalah-routing-dan-quality-gate-">
            <a:extLst xmlns:a="http://schemas.openxmlformats.org/drawingml/2006/main">
              <a:ext uri="{FF2B5EF4-FFF2-40B4-BE49-F238E27FC236}">
                <a16:creationId xmlns:a16="http://schemas.microsoft.com/office/drawing/2014/main" id="{9D117F77-1691-42FC-8DF3-7BA1C5D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0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18"/>
                </a:solidFill>
                <a:latin typeface="Aptos"/>
                <a:ea typeface="Aptos"/>
                <a:cs typeface="Aptos"/>
              </a:rPr>
              <a:t>Closing message: progress sudah kuat di data + visualisasi; milestone tersisa adalah routing dan quality gate.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DD59FE5-17E3-41B2-8422-A73692E0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8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B8F5492-5D33-416C-AE4B-A022544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7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7AA"/>
                </a:solidFill>
                <a:latin typeface="Aptos"/>
                <a:ea typeface="Aptos"/>
                <a:cs typeface="Aptos"/>
              </a:rPr>
              <a:t>Source: repository context, TASKS.md, PROJECT_STATUS.md, reference DOCX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39CD84E-997B-4BF7-BF7B-786AED07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7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7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2702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2026-05-11T13:28:23.1830000Z</dcterms:created>
  <dcterms:modified xsi:type="dcterms:W3CDTF">2026-05-11T13:28:23.1830000Z</dcterms:modified>
</coreProperties>
</file>